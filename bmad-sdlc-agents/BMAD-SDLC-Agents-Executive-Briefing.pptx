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_rels/slide15.xml.rels" ContentType="application/vnd.openxmlformats-package.relationships+xml"/>
  <Override PartName="/ppt/slides/_rels/slide20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16.xml.rels" ContentType="application/vnd.openxmlformats-package.relationships+xml"/>
  <Override PartName="/ppt/slides/_rels/slide6.xml.rels" ContentType="application/vnd.openxmlformats-package.relationships+xml"/>
  <Override PartName="/ppt/slides/_rels/slide19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12.xml.rels" ContentType="application/vnd.openxmlformats-package.relationships+xml"/>
  <Override PartName="/ppt/slides/_rels/slide1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CE2F29-D0F2-486C-A04D-328106DF3CE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68C727-537D-493A-BB84-2AE404304F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266783-D80B-43F7-A277-383981C3788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7C0D3-5A27-49B5-AC43-B9E2B1169A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3F2D1-5269-4EF3-81C7-26833C7D15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EC7481-7BA8-4B94-937D-78D7D9F79D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8C6857-E8E7-4D80-9938-CAFF1189C7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DACFC1-3E7F-4753-9C35-9BD36109C9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2B2C9-0847-4D84-8339-FE06609905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BAB8A2-085F-46E6-B924-3CF30776DC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59213-13F5-41A9-9522-E697E3AB01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2A97D-F9E9-4D98-A7F5-72DAFCE1D8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28F6ED-8086-4BB4-A408-B059B17A66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20708F-76DA-471D-9556-B55A156923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FAFC79-20B4-4DCA-8BD1-BD030B3C67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AF991-F64C-4F79-8F48-CF63875403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BAF48C-C96A-43E0-8814-8D6F351CE4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B7895-AB88-4803-A0A5-971A43CA45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F46FF-7457-4050-BA29-8CC510EE2D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8BFEF1-306C-48A0-9C36-A2C31AC19C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ADF961-DF12-4ABE-A409-2DFC038967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1188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799" strike="noStrike" u="none">
                <a:solidFill>
                  <a:srgbClr val="cffafe"/>
                </a:solidFill>
                <a:effectLst/>
                <a:uFillTx/>
                <a:latin typeface="Calibri"/>
                <a:ea typeface="Calibri"/>
              </a:rPr>
              <a:t>ENTERPRISE METHODOLOGY  ·  AI-DRIVEN SDLC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6459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BMAD SDLC Agents</a:t>
            </a:r>
            <a:endParaRPr b="0" lang="en-US" sz="6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297180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trike="noStrike" u="none">
                <a:solidFill>
                  <a:srgbClr val="c7d2fe"/>
                </a:solidFill>
                <a:effectLst/>
                <a:uFillTx/>
                <a:latin typeface="Calibri"/>
                <a:ea typeface="Calibri"/>
              </a:rPr>
              <a:t>A two-layer agent architecture for governed, parallel, AI-native software delivery.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83160" y="4572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83160" y="5349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Specialized AI agents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589200" y="4572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589200" y="5349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Tools supported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195240" y="4572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195240" y="5349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Workflow types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801280" y="4572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801280" y="5349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Plan + Execute waves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22960" y="626364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Audience  ·  CTO  ·  Head of Product  ·  Head of Engineering  ·  Architects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01  ·  WHY NOW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AI coding tools are fast — but ungoverned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48640" y="1554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Individual developer copilots boost typing speed, but enterprise software delivery still suffers from the same friction: ad-hoc prompting, missing role discipline, lost context across sessions, and zero traceability into architectural and security decisions.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548640" y="260604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548640" y="260604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77240" y="277056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No role discipline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777240" y="324612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Every prompt is a blank slate. Engineers, architects, and PMs converge on the same generic assistant.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4312800" y="260604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312800" y="260604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4541400" y="277056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Context drift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4541400" y="324612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Tech-stack, conventions, and domain glossary aren't reloaded between sessions, so output stays generic.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8077320" y="260604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8077320" y="260604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8305920" y="277056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Architecture as folklore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8305920" y="324612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ADRs, threat models, and NFRs live in heads — never enforced when the model writes code.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548640" y="454932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548640" y="454932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777240" y="471384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Single-threaded squads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777240" y="518940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Backend / Frontend / Mobile cannot meaningfully run in parallel against a shared plan.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4312800" y="454932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4312800" y="454932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4541400" y="471384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Tool fragmentation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4541400" y="518940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Claude, Cursor, Windsurf, Copilot, Codex, Gemini — each team locks into one, with no shared playbook.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8077320" y="4549320"/>
            <a:ext cx="353520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8077320" y="4549320"/>
            <a:ext cx="54360" cy="171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8305920" y="4713840"/>
            <a:ext cx="316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No measurement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8305920" y="5189400"/>
            <a:ext cx="316944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Productivity claims are anecdotal. There is no shared definition of speed, quality, and coverage.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02  ·  THE OPPORTUNITY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What BMAD is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548640" y="1554480"/>
            <a:ext cx="11063880" cy="1234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548640" y="1554480"/>
            <a:ext cx="54360" cy="1234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777240" y="171900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BMAD = Breakthrough Method of Agile AI-Driven Development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777240" y="21488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An enterprise methodology — and an installable framework — that delivers software through a cross-functional squad of 13 specialized AI agents, each with a defined role, scope, and governance contract.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548640" y="3017520"/>
            <a:ext cx="3565800" cy="324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548640" y="3017520"/>
            <a:ext cx="35658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77724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777240" y="3886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Roles, not prompts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777240" y="4343400"/>
            <a:ext cx="31086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PO, BA, EA, UX, SA, InfoSec, DevSecOps, TL, BE, FE, ME, TQE — each agent loads its own SKILL.md with scope boundaries, agent rules, and a completion protocol. No more 'as a senior engineer…' prompting.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4297680" y="3017520"/>
            <a:ext cx="3565800" cy="324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4297680" y="3017520"/>
            <a:ext cx="35658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452628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②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4526280" y="3886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Two-layer architecture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526280" y="4343400"/>
            <a:ext cx="31086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reusable global layer (skills + shared references) installs once across all your AI tools. A project layer (.bmad/) pins context, tech-stack, and conventions per repo so every agent runs project-aware.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8046720" y="3017520"/>
            <a:ext cx="3565800" cy="324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8046720" y="3017520"/>
            <a:ext cx="35658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827532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③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8275320" y="3886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Governed by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8275320" y="4343400"/>
            <a:ext cx="31086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Karpathy-derived engineering principles, inline Agent Rules, ADR lock per sprint, A2UI advisory, sentinel-file orchestration, and a productivity dashboard built in from day one.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03  ·  THE SQUAD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13 specialized agents, mapped to the SDLC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548640" y="1600200"/>
            <a:ext cx="2559960" cy="502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85800" y="1600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548640" y="224028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548640" y="224028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713160" y="2313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Product Owner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713160" y="2624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BRD, PRD, MVP scope (entry point)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548640" y="312732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548640" y="312732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713160" y="3200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Business Analyst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713160" y="3511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Requirements analysis, stories, GWT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3383280" y="1600200"/>
            <a:ext cx="2559960" cy="502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3520440" y="1600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SOLUTIONING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3383280" y="224028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3383280" y="2240280"/>
            <a:ext cx="54360" cy="776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3547800" y="2313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Enterprise Architect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3547800" y="2624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Cloud, compliance, CI/CD guardrails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3383280" y="312732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3383280" y="3127320"/>
            <a:ext cx="54360" cy="776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3547800" y="3200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UX/UI Designer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3547800" y="3511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Personas, journeys, DESIGN.md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3383280" y="401436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3383280" y="4014360"/>
            <a:ext cx="54360" cy="776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3547800" y="4087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Solution Architect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3547800" y="43981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APIs, data models, ADRs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7"/>
          <p:cNvSpPr/>
          <p:nvPr/>
        </p:nvSpPr>
        <p:spPr>
          <a:xfrm>
            <a:off x="3383280" y="490104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3383280" y="4901040"/>
            <a:ext cx="54360" cy="776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9"/>
          <p:cNvSpPr/>
          <p:nvPr/>
        </p:nvSpPr>
        <p:spPr>
          <a:xfrm>
            <a:off x="3547800" y="49744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InfoSec Architect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3547800" y="5285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Threat models, controls, IR readiness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1"/>
          <p:cNvSpPr/>
          <p:nvPr/>
        </p:nvSpPr>
        <p:spPr>
          <a:xfrm>
            <a:off x="6217920" y="1600200"/>
            <a:ext cx="2559960" cy="502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2"/>
          <p:cNvSpPr/>
          <p:nvPr/>
        </p:nvSpPr>
        <p:spPr>
          <a:xfrm>
            <a:off x="6355080" y="1600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3"/>
          <p:cNvSpPr/>
          <p:nvPr/>
        </p:nvSpPr>
        <p:spPr>
          <a:xfrm>
            <a:off x="6217920" y="224028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4"/>
          <p:cNvSpPr/>
          <p:nvPr/>
        </p:nvSpPr>
        <p:spPr>
          <a:xfrm>
            <a:off x="6217920" y="2240280"/>
            <a:ext cx="54360" cy="776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5"/>
          <p:cNvSpPr/>
          <p:nvPr/>
        </p:nvSpPr>
        <p:spPr>
          <a:xfrm>
            <a:off x="6382440" y="2313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Backend Engineer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6"/>
          <p:cNvSpPr/>
          <p:nvPr/>
        </p:nvSpPr>
        <p:spPr>
          <a:xfrm>
            <a:off x="6382440" y="2624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APIs, data, events, authN/Z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7"/>
          <p:cNvSpPr/>
          <p:nvPr/>
        </p:nvSpPr>
        <p:spPr>
          <a:xfrm>
            <a:off x="6217920" y="312732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8"/>
          <p:cNvSpPr/>
          <p:nvPr/>
        </p:nvSpPr>
        <p:spPr>
          <a:xfrm>
            <a:off x="6217920" y="3127320"/>
            <a:ext cx="54360" cy="776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9"/>
          <p:cNvSpPr/>
          <p:nvPr/>
        </p:nvSpPr>
        <p:spPr>
          <a:xfrm>
            <a:off x="6382440" y="3200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Frontend Engineer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0"/>
          <p:cNvSpPr/>
          <p:nvPr/>
        </p:nvSpPr>
        <p:spPr>
          <a:xfrm>
            <a:off x="6382440" y="3511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React/TS, perf, a11y, i18n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1"/>
          <p:cNvSpPr/>
          <p:nvPr/>
        </p:nvSpPr>
        <p:spPr>
          <a:xfrm>
            <a:off x="6217920" y="401436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2"/>
          <p:cNvSpPr/>
          <p:nvPr/>
        </p:nvSpPr>
        <p:spPr>
          <a:xfrm>
            <a:off x="6217920" y="4014360"/>
            <a:ext cx="54360" cy="776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3"/>
          <p:cNvSpPr/>
          <p:nvPr/>
        </p:nvSpPr>
        <p:spPr>
          <a:xfrm>
            <a:off x="6382440" y="4087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Mobile Engineer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4"/>
          <p:cNvSpPr/>
          <p:nvPr/>
        </p:nvSpPr>
        <p:spPr>
          <a:xfrm>
            <a:off x="6382440" y="43981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iOS/Android, offline, app size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5"/>
          <p:cNvSpPr/>
          <p:nvPr/>
        </p:nvSpPr>
        <p:spPr>
          <a:xfrm>
            <a:off x="9052560" y="1600200"/>
            <a:ext cx="2559960" cy="502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6"/>
          <p:cNvSpPr/>
          <p:nvPr/>
        </p:nvSpPr>
        <p:spPr>
          <a:xfrm>
            <a:off x="9189720" y="1600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 PHASES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7"/>
          <p:cNvSpPr/>
          <p:nvPr/>
        </p:nvSpPr>
        <p:spPr>
          <a:xfrm>
            <a:off x="9052560" y="224028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8"/>
          <p:cNvSpPr/>
          <p:nvPr/>
        </p:nvSpPr>
        <p:spPr>
          <a:xfrm>
            <a:off x="9052560" y="2240280"/>
            <a:ext cx="54360" cy="776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9"/>
          <p:cNvSpPr/>
          <p:nvPr/>
        </p:nvSpPr>
        <p:spPr>
          <a:xfrm>
            <a:off x="9217080" y="2313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DevSecOps Engineer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0"/>
          <p:cNvSpPr/>
          <p:nvPr/>
        </p:nvSpPr>
        <p:spPr>
          <a:xfrm>
            <a:off x="9217080" y="2624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Pipelines, IaC, SLOs, FinOps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51"/>
          <p:cNvSpPr/>
          <p:nvPr/>
        </p:nvSpPr>
        <p:spPr>
          <a:xfrm>
            <a:off x="9052560" y="312732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52"/>
          <p:cNvSpPr/>
          <p:nvPr/>
        </p:nvSpPr>
        <p:spPr>
          <a:xfrm>
            <a:off x="9052560" y="3127320"/>
            <a:ext cx="54360" cy="776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3"/>
          <p:cNvSpPr/>
          <p:nvPr/>
        </p:nvSpPr>
        <p:spPr>
          <a:xfrm>
            <a:off x="9217080" y="3200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Tech Lead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4"/>
          <p:cNvSpPr/>
          <p:nvPr/>
        </p:nvSpPr>
        <p:spPr>
          <a:xfrm>
            <a:off x="9217080" y="3511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Sprint planning, code review, risk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5"/>
          <p:cNvSpPr/>
          <p:nvPr/>
        </p:nvSpPr>
        <p:spPr>
          <a:xfrm>
            <a:off x="9052560" y="401436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6"/>
          <p:cNvSpPr/>
          <p:nvPr/>
        </p:nvSpPr>
        <p:spPr>
          <a:xfrm>
            <a:off x="9052560" y="4014360"/>
            <a:ext cx="54360" cy="776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7"/>
          <p:cNvSpPr/>
          <p:nvPr/>
        </p:nvSpPr>
        <p:spPr>
          <a:xfrm>
            <a:off x="9217080" y="4087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Tester &amp; QE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8"/>
          <p:cNvSpPr/>
          <p:nvPr/>
        </p:nvSpPr>
        <p:spPr>
          <a:xfrm>
            <a:off x="9217080" y="43981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Test strategy, gates, automation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9"/>
          <p:cNvSpPr/>
          <p:nvPr/>
        </p:nvSpPr>
        <p:spPr>
          <a:xfrm>
            <a:off x="9052560" y="4901040"/>
            <a:ext cx="255996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0"/>
          <p:cNvSpPr/>
          <p:nvPr/>
        </p:nvSpPr>
        <p:spPr>
          <a:xfrm>
            <a:off x="9052560" y="4901040"/>
            <a:ext cx="54360" cy="776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1"/>
          <p:cNvSpPr/>
          <p:nvPr/>
        </p:nvSpPr>
        <p:spPr>
          <a:xfrm>
            <a:off x="9217080" y="49744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BMAD Orchestrator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2"/>
          <p:cNvSpPr/>
          <p:nvPr/>
        </p:nvSpPr>
        <p:spPr>
          <a:xfrm>
            <a:off x="9217080" y="5285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Routes work to the right sub-agent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3"/>
          <p:cNvSpPr/>
          <p:nvPr/>
        </p:nvSpPr>
        <p:spPr>
          <a:xfrm>
            <a:off x="548640" y="60807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Every agent ships a brainstorm.md — conversational, one question per turn — so scope is clarified before any artifact is produced.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4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5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04  ·  END-TO-END FLOW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From business intent to release sign-off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43452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434520" y="205740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52596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Product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Owner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52596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BRD · PRD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 rot="5400000">
            <a:off x="187020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208044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2080440" y="205740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217188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Business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Analyst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217188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Reqs · Stories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 rot="5400000">
            <a:off x="351612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372636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3726360" y="2057400"/>
            <a:ext cx="14169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381780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EA  ∥  UX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381780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Cloud · Wireframes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 rot="5400000">
            <a:off x="516204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537228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9"/>
          <p:cNvSpPr/>
          <p:nvPr/>
        </p:nvSpPr>
        <p:spPr>
          <a:xfrm>
            <a:off x="5372280" y="205740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546372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Architect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1"/>
          <p:cNvSpPr/>
          <p:nvPr/>
        </p:nvSpPr>
        <p:spPr>
          <a:xfrm>
            <a:off x="546372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ADRs · APIs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 rot="5400000">
            <a:off x="680796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701820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4"/>
          <p:cNvSpPr/>
          <p:nvPr/>
        </p:nvSpPr>
        <p:spPr>
          <a:xfrm>
            <a:off x="7018200" y="205740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5"/>
          <p:cNvSpPr/>
          <p:nvPr/>
        </p:nvSpPr>
        <p:spPr>
          <a:xfrm>
            <a:off x="710964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Tech Lead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6"/>
          <p:cNvSpPr/>
          <p:nvPr/>
        </p:nvSpPr>
        <p:spPr>
          <a:xfrm>
            <a:off x="710964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Sprint plan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7"/>
          <p:cNvSpPr/>
          <p:nvPr/>
        </p:nvSpPr>
        <p:spPr>
          <a:xfrm rot="5400000">
            <a:off x="845388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8"/>
          <p:cNvSpPr/>
          <p:nvPr/>
        </p:nvSpPr>
        <p:spPr>
          <a:xfrm>
            <a:off x="866412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9"/>
          <p:cNvSpPr/>
          <p:nvPr/>
        </p:nvSpPr>
        <p:spPr>
          <a:xfrm>
            <a:off x="8664120" y="2057400"/>
            <a:ext cx="14169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0"/>
          <p:cNvSpPr/>
          <p:nvPr/>
        </p:nvSpPr>
        <p:spPr>
          <a:xfrm>
            <a:off x="875556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  ∥  FE  ∥  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1"/>
          <p:cNvSpPr/>
          <p:nvPr/>
        </p:nvSpPr>
        <p:spPr>
          <a:xfrm>
            <a:off x="875556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2"/>
          <p:cNvSpPr/>
          <p:nvPr/>
        </p:nvSpPr>
        <p:spPr>
          <a:xfrm rot="5400000">
            <a:off x="10099800" y="2715480"/>
            <a:ext cx="16416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3"/>
          <p:cNvSpPr/>
          <p:nvPr/>
        </p:nvSpPr>
        <p:spPr>
          <a:xfrm>
            <a:off x="10310040" y="2057400"/>
            <a:ext cx="141696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4"/>
          <p:cNvSpPr/>
          <p:nvPr/>
        </p:nvSpPr>
        <p:spPr>
          <a:xfrm>
            <a:off x="10310040" y="205740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5"/>
          <p:cNvSpPr/>
          <p:nvPr/>
        </p:nvSpPr>
        <p:spPr>
          <a:xfrm>
            <a:off x="10401480" y="2221920"/>
            <a:ext cx="1234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Tester &amp;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QE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6"/>
          <p:cNvSpPr/>
          <p:nvPr/>
        </p:nvSpPr>
        <p:spPr>
          <a:xfrm>
            <a:off x="10401480" y="3017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Quality gate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7"/>
          <p:cNvSpPr/>
          <p:nvPr/>
        </p:nvSpPr>
        <p:spPr>
          <a:xfrm>
            <a:off x="548640" y="3886200"/>
            <a:ext cx="5440320" cy="233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8"/>
          <p:cNvSpPr/>
          <p:nvPr/>
        </p:nvSpPr>
        <p:spPr>
          <a:xfrm>
            <a:off x="548640" y="3886200"/>
            <a:ext cx="54360" cy="2331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9"/>
          <p:cNvSpPr/>
          <p:nvPr/>
        </p:nvSpPr>
        <p:spPr>
          <a:xfrm>
            <a:off x="777240" y="4069080"/>
            <a:ext cx="5166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PLAN PHASE  ·  7 waves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777240" y="4389120"/>
            <a:ext cx="51660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Business intent flows through each role with explicit gates. Wave 3 (EA ∥ UX) and Wave 6 (BE ∥ FE ∥ ME spec) run in parallel. Tech Lead converges everything into a sprint plan; Tester &amp; QE ratifies the test strategy.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1"/>
          <p:cNvSpPr/>
          <p:nvPr/>
        </p:nvSpPr>
        <p:spPr>
          <a:xfrm>
            <a:off x="6217920" y="3886200"/>
            <a:ext cx="5440320" cy="233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2"/>
          <p:cNvSpPr/>
          <p:nvPr/>
        </p:nvSpPr>
        <p:spPr>
          <a:xfrm>
            <a:off x="6217920" y="3886200"/>
            <a:ext cx="54360" cy="2331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3"/>
          <p:cNvSpPr/>
          <p:nvPr/>
        </p:nvSpPr>
        <p:spPr>
          <a:xfrm>
            <a:off x="6446520" y="4069080"/>
            <a:ext cx="5166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EXECUTE PHASE  ·  3 waves per sprint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4"/>
          <p:cNvSpPr/>
          <p:nvPr/>
        </p:nvSpPr>
        <p:spPr>
          <a:xfrm>
            <a:off x="6446520" y="4389120"/>
            <a:ext cx="51660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Tech Lead writes sprint-N-kickoff.md → spawns BE ∥ FE ∥ ME in parallel against isolated git worktrees → reviews each branch → triggers Tester &amp; QE only after every engineer's branch is merge-clean.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5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6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05  ·  ARCHITECTURE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Two layers — install once, scaffold per project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548640" y="1645920"/>
            <a:ext cx="5486040" cy="475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" y="1645920"/>
            <a:ext cx="548604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822960" y="18288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GLOBAL LAYER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22960" y="21488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Install once · available in every project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22960" y="26974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agents/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2331720" y="26974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13 agent SKILL.md + brainstorm.md, references/, templates/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822960" y="335592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shared/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2331720" y="33559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Org context, Karpathy principles, A2UI ref, technology radar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822960" y="40143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hooks/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331720" y="40143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PostToolUse / Stop hooks + Yolo autonomous harness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822960" y="46724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rules/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2331720" y="467244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Per-tool rule fragments — Cursor, Windsurf, Trae, Copilot…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822960" y="5330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scripts/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2331720" y="5330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install-global.sh / .ps1, scaffold-project.sh, update.sh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6309360" y="1645920"/>
            <a:ext cx="5486040" cy="475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6309360" y="1645920"/>
            <a:ext cx="548604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6583680" y="18288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1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PROJECT LAYER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6583680" y="21488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Per-repo · checked into git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6583680" y="2697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.bmad/PROJECT-CONTEXT.md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9006840" y="269748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Vision, goals, stakeholders, constraints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6583680" y="33559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.bmad/tech-stack.md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9006840" y="335592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Languages, frameworks, versions, build setup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583680" y="40143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.bmad/team-conventions.md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9006840" y="401436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Code style, naming, patterns, PR process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6583680" y="46724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.bmad/domain-glossary.md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9006840" y="467244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Business terminology, entities, relationships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6583680" y="5330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.bmad/handoff-log.md + signals/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9006840" y="533088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Inter-agent coordination &amp; sentinel files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06  ·  CONTEXT DISCIPLINE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Progressive disclosure — keep the window lean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548640" y="15544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Every agent loads context in three layers, on demand. A Tech Lead doing code review never pays for the risk-assessment template; a Backend Engineer in execute mode skips the full PRD tree.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" y="2423160"/>
            <a:ext cx="11063880" cy="1234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548640" y="2423160"/>
            <a:ext cx="54360" cy="1234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777240" y="25876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LEVEL 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77240" y="28803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Metadata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777240" y="32918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YAML frontmatter — name, description, allowed-tools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4754880" y="288036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Always loaded — used by the tool for skill discovery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9144000" y="2926080"/>
            <a:ext cx="2285640" cy="319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9144000" y="2926080"/>
            <a:ext cx="114120" cy="319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9144000" y="32918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5% of agent footprint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3"/>
          <p:cNvSpPr/>
          <p:nvPr/>
        </p:nvSpPr>
        <p:spPr>
          <a:xfrm>
            <a:off x="548640" y="3840480"/>
            <a:ext cx="11063880" cy="1234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548640" y="3840480"/>
            <a:ext cx="54360" cy="1234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777240" y="4005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LEVEL 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777240" y="42976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Skill body (SKILL.md)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777240" y="470916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Mode detection · responsibilities · completion protocol · scope boundaries · agent rules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4754880" y="429768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On invocation — bounded to ≤500 lines per agent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9144000" y="4343400"/>
            <a:ext cx="2285640" cy="319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9144000" y="4343400"/>
            <a:ext cx="799920" cy="319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9144000" y="47091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35% of agent footprint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548640" y="5257800"/>
            <a:ext cx="11063880" cy="1234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3"/>
          <p:cNvSpPr/>
          <p:nvPr/>
        </p:nvSpPr>
        <p:spPr>
          <a:xfrm>
            <a:off x="548640" y="5257800"/>
            <a:ext cx="54360" cy="1234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777240" y="54223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LEVEL 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777240" y="57150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References + templates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6"/>
          <p:cNvSpPr/>
          <p:nvPr/>
        </p:nvSpPr>
        <p:spPr>
          <a:xfrm>
            <a:off x="777240" y="6126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Deep-dive guides, ADR / story / test-plan templates, integration recipes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4754880" y="571500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On demand — agent reads only the file it needs for the active deliverable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8"/>
          <p:cNvSpPr/>
          <p:nvPr/>
        </p:nvSpPr>
        <p:spPr>
          <a:xfrm>
            <a:off x="9144000" y="5760720"/>
            <a:ext cx="2285640" cy="319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9"/>
          <p:cNvSpPr/>
          <p:nvPr/>
        </p:nvSpPr>
        <p:spPr>
          <a:xfrm>
            <a:off x="9144000" y="5760720"/>
            <a:ext cx="1371240" cy="319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0"/>
          <p:cNvSpPr/>
          <p:nvPr/>
        </p:nvSpPr>
        <p:spPr>
          <a:xfrm>
            <a:off x="9144000" y="61264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60% of agent footprint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1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2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07  ·  AGENT INTELLIGENCE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Agents that detect their own job, not bots that wait for orders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548640" y="1600200"/>
            <a:ext cx="541764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548640" y="160020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822960" y="18014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QUICK MODE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822960" y="2148840"/>
            <a:ext cx="486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Plan vs. Execute in 2 seconds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822960" y="2651760"/>
            <a:ext cx="486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Before loading any project context, every agent runs a binary check on signal files (sprint-N-kickoff.md, fix plans, hotfixes). Execute Mode skips the full planning artifact tree — loading only 2-3 targeted files.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8"/>
          <p:cNvSpPr/>
          <p:nvPr/>
        </p:nvSpPr>
        <p:spPr>
          <a:xfrm>
            <a:off x="6195240" y="1600200"/>
            <a:ext cx="541764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6195240" y="160020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6469560" y="18014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TASK DETECTION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6469560" y="2148840"/>
            <a:ext cx="486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Autonomous priority routing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6469560" y="2651760"/>
            <a:ext cx="486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Each agent scans .bmad/handoffs/ and docs/ to figure out what work type is active — hotfix &gt; bug fix &gt; sprint kickoff &gt; sprint plan &gt; PRD — and either announces the task or reports `Blocked: [what's missing]`.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548640" y="4023360"/>
            <a:ext cx="541764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548640" y="402336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822960" y="422460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KICKOFF SUGGESTIONS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822960" y="4572000"/>
            <a:ext cx="486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Hand-off chain you don't have to remember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822960" y="5074920"/>
            <a:ext cx="486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Every Completion Protocol ends with a next-agent pointer. PO → BA → EA ∥ UX → SA → Tech Lead → engineers → Tester &amp; QE — the squad walks itself.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6195240" y="4023360"/>
            <a:ext cx="541764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6195240" y="402336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6469560" y="422460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AGENT RULES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6469560" y="4572000"/>
            <a:ext cx="486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Inline non-negotiable guardrails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6469560" y="5074920"/>
            <a:ext cx="486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Each agent embeds Security &amp; Compliance, Code Quality, Workflow, and Architecture Governance rules. e.g. BE: 'Parameterized queries only.' SA: 'All tech on the radar — unlisted tech requires an ADR.'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08  ·  ARCHITECTURE GOVERNANCE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EA sets the guardrails, SA designs within them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548640" y="1554480"/>
            <a:ext cx="1106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Two-axis heuristic — Scope (cross-system vs. one solution) × Layer (platform/governance vs. application/code-adjacent). When in doubt, EA goes first; SA's component choices depend on EA's platform decisions.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5" name="Table 0"/>
          <p:cNvGraphicFramePr/>
          <p:nvPr/>
        </p:nvGraphicFramePr>
        <p:xfrm>
          <a:off x="548640" y="2286000"/>
          <a:ext cx="11063880" cy="3632760"/>
        </p:xfrm>
        <a:graphic>
          <a:graphicData uri="http://schemas.openxmlformats.org/drawingml/2006/table">
            <a:tbl>
              <a:tblPr/>
              <a:tblGrid>
                <a:gridCol w="5212080"/>
                <a:gridCol w="1463040"/>
                <a:gridCol w="1463040"/>
                <a:gridCol w="1463040"/>
                <a:gridCol w="146304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Topic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EA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InfoSec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DevSecOps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/ region strategy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Multi-environment topology (dev / stg / prod / DR)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Compute platform (K8s vs serverless vs hybrid)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Compliance posture (SOC2 / GDPR / HIPAA / PCI)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9f123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Technology radar governance (Adopt / Trial / Hold)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A2UI adoption, version pin, catalog governance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e74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Service decomposition within a solution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d4e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API contracts (OpenAPI / AsyncAPI) for a solution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d4e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 model / schema / indexes for a service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d4e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Threat models, controls catalogue, encryption choices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9f123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Terraform / Helm / GitHub Actions YAML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6" name="Shape 4"/>
          <p:cNvSpPr/>
          <p:nvPr/>
        </p:nvSpPr>
        <p:spPr>
          <a:xfrm>
            <a:off x="548640" y="6126480"/>
            <a:ext cx="11063880" cy="456840"/>
          </a:xfrm>
          <a:prstGeom prst="rect">
            <a:avLst/>
          </a:prstGeom>
          <a:solidFill>
            <a:srgbClr val="cffafe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777240" y="617220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Triage shortcut — applies across multiple solutions → EA · introduces new tech → EA first (radar) then SA · API or data-model boundary → SA · how to defend → InfoSec · how to operate → DevSecOps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9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09  ·  ENGINEERING DISCIPLINE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Four principles, baked into every agent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548640" y="1645920"/>
            <a:ext cx="2628720" cy="411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548640" y="1645920"/>
            <a:ext cx="262872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777240" y="1874520"/>
            <a:ext cx="217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777240" y="2514600"/>
            <a:ext cx="2171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Think before coding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7"/>
          <p:cNvSpPr/>
          <p:nvPr/>
        </p:nvSpPr>
        <p:spPr>
          <a:xfrm>
            <a:off x="777240" y="3337560"/>
            <a:ext cx="2171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Brainstorm.md is conversational — one question per turn. No artifact is produced until scope is clear and the next-step deliverable is named.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"/>
          <p:cNvSpPr/>
          <p:nvPr/>
        </p:nvSpPr>
        <p:spPr>
          <a:xfrm>
            <a:off x="3360600" y="1645920"/>
            <a:ext cx="2628720" cy="411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9"/>
          <p:cNvSpPr/>
          <p:nvPr/>
        </p:nvSpPr>
        <p:spPr>
          <a:xfrm>
            <a:off x="3360600" y="1645920"/>
            <a:ext cx="262872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0"/>
          <p:cNvSpPr/>
          <p:nvPr/>
        </p:nvSpPr>
        <p:spPr>
          <a:xfrm>
            <a:off x="3589200" y="1874520"/>
            <a:ext cx="217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1"/>
          <p:cNvSpPr/>
          <p:nvPr/>
        </p:nvSpPr>
        <p:spPr>
          <a:xfrm>
            <a:off x="3589200" y="2514600"/>
            <a:ext cx="2171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Simplicity first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3589200" y="3337560"/>
            <a:ext cx="2171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Prefer the smallest change that meets the goal. Reject premature abstractions. Tech radar gates new technology behind an explicit ADR.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6172200" y="1645920"/>
            <a:ext cx="2628720" cy="411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4"/>
          <p:cNvSpPr/>
          <p:nvPr/>
        </p:nvSpPr>
        <p:spPr>
          <a:xfrm>
            <a:off x="6172200" y="1645920"/>
            <a:ext cx="262872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5"/>
          <p:cNvSpPr/>
          <p:nvPr/>
        </p:nvSpPr>
        <p:spPr>
          <a:xfrm>
            <a:off x="6400800" y="1874520"/>
            <a:ext cx="217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6"/>
          <p:cNvSpPr/>
          <p:nvPr/>
        </p:nvSpPr>
        <p:spPr>
          <a:xfrm>
            <a:off x="6400800" y="2514600"/>
            <a:ext cx="2171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Surgical changes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6400800" y="3337560"/>
            <a:ext cx="2171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Every code-writing agent works in an isolated git worktree on a dedicated branch. Diffs stay narrow, reversible, and reviewable.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8"/>
          <p:cNvSpPr/>
          <p:nvPr/>
        </p:nvSpPr>
        <p:spPr>
          <a:xfrm>
            <a:off x="8984160" y="1645920"/>
            <a:ext cx="2628720" cy="411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9"/>
          <p:cNvSpPr/>
          <p:nvPr/>
        </p:nvSpPr>
        <p:spPr>
          <a:xfrm>
            <a:off x="8984160" y="1645920"/>
            <a:ext cx="262872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0"/>
          <p:cNvSpPr/>
          <p:nvPr/>
        </p:nvSpPr>
        <p:spPr>
          <a:xfrm>
            <a:off x="9212760" y="1874520"/>
            <a:ext cx="217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1"/>
          <p:cNvSpPr/>
          <p:nvPr/>
        </p:nvSpPr>
        <p:spPr>
          <a:xfrm>
            <a:off x="9212760" y="2514600"/>
            <a:ext cx="2171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Goal-driven execution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2"/>
          <p:cNvSpPr/>
          <p:nvPr/>
        </p:nvSpPr>
        <p:spPr>
          <a:xfrm>
            <a:off x="9212760" y="3337560"/>
            <a:ext cx="2171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Every agent resolves: which deliverable, against which acceptance criterion, by which signal. Completion is verifiable, not asserted.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3"/>
          <p:cNvSpPr/>
          <p:nvPr/>
        </p:nvSpPr>
        <p:spPr>
          <a:xfrm>
            <a:off x="548640" y="5943600"/>
            <a:ext cx="11063880" cy="50256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4"/>
          <p:cNvSpPr/>
          <p:nvPr/>
        </p:nvSpPr>
        <p:spPr>
          <a:xfrm>
            <a:off x="777240" y="59893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cffafe"/>
                </a:solidFill>
                <a:effectLst/>
                <a:uFillTx/>
                <a:latin typeface="Calibri"/>
                <a:ea typeface="Calibri"/>
              </a:rPr>
              <a:t>Installed in three layers — per-tool rulebooks (~/.claude/KARPATHY-PRINCIPLES.md, .cursor/rules/001-*, .aider.conventions.md) · every SKILL.md preamble · every brainstorm.md preamble.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5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6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10  ·  FIVE WORK TYPES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One framework, the right ceremony for every change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548640" y="1600200"/>
            <a:ext cx="1106388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548640" y="160020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5"/>
          <p:cNvSpPr/>
          <p:nvPr/>
        </p:nvSpPr>
        <p:spPr>
          <a:xfrm>
            <a:off x="777240" y="1764720"/>
            <a:ext cx="456840" cy="456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777240" y="176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1417320" y="16459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New Project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1417320" y="19843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Plan: 7 waves · Execute: 3 waves/sprint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5349240" y="1645920"/>
            <a:ext cx="6126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onsolas"/>
                <a:ea typeface="Consolas"/>
              </a:rPr>
              <a:t>PO → BA → EA ∥ UX → SA → TL → BE ∥ FE ∥ ME → TQE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0"/>
          <p:cNvSpPr/>
          <p:nvPr/>
        </p:nvSpPr>
        <p:spPr>
          <a:xfrm>
            <a:off x="548640" y="2496240"/>
            <a:ext cx="1106388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548640" y="249624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777240" y="2660760"/>
            <a:ext cx="456840" cy="456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777240" y="2660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417320" y="2541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Feature / Enhancement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5"/>
          <p:cNvSpPr/>
          <p:nvPr/>
        </p:nvSpPr>
        <p:spPr>
          <a:xfrm>
            <a:off x="1417320" y="2880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Plan: 5 waves · Execute: 3 waves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5349240" y="2541960"/>
            <a:ext cx="6126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onsolas"/>
                <a:ea typeface="Consolas"/>
              </a:rPr>
              <a:t>PO → BA → SA ∥ UX → TL → BE ∥ FE ∥ ME → TQE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7"/>
          <p:cNvSpPr/>
          <p:nvPr/>
        </p:nvSpPr>
        <p:spPr>
          <a:xfrm>
            <a:off x="548640" y="3392280"/>
            <a:ext cx="1106388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8"/>
          <p:cNvSpPr/>
          <p:nvPr/>
        </p:nvSpPr>
        <p:spPr>
          <a:xfrm>
            <a:off x="548640" y="339228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9"/>
          <p:cNvSpPr/>
          <p:nvPr/>
        </p:nvSpPr>
        <p:spPr>
          <a:xfrm>
            <a:off x="777240" y="3557160"/>
            <a:ext cx="456840" cy="456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777240" y="3557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1417320" y="34380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Bug Fix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2"/>
          <p:cNvSpPr/>
          <p:nvPr/>
        </p:nvSpPr>
        <p:spPr>
          <a:xfrm>
            <a:off x="1417320" y="37764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Diagnose → Fix → Verify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3"/>
          <p:cNvSpPr/>
          <p:nvPr/>
        </p:nvSpPr>
        <p:spPr>
          <a:xfrm>
            <a:off x="5349240" y="3438000"/>
            <a:ext cx="6126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onsolas"/>
                <a:ea typeface="Consolas"/>
              </a:rPr>
              <a:t>TQE (reproduce) → TL (root cause + plan) → engineer → TQE (verify)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4"/>
          <p:cNvSpPr/>
          <p:nvPr/>
        </p:nvSpPr>
        <p:spPr>
          <a:xfrm>
            <a:off x="548640" y="4288680"/>
            <a:ext cx="1106388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5"/>
          <p:cNvSpPr/>
          <p:nvPr/>
        </p:nvSpPr>
        <p:spPr>
          <a:xfrm>
            <a:off x="548640" y="428868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6"/>
          <p:cNvSpPr/>
          <p:nvPr/>
        </p:nvSpPr>
        <p:spPr>
          <a:xfrm>
            <a:off x="777240" y="4453200"/>
            <a:ext cx="456840" cy="456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7"/>
          <p:cNvSpPr/>
          <p:nvPr/>
        </p:nvSpPr>
        <p:spPr>
          <a:xfrm>
            <a:off x="777240" y="4453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8"/>
          <p:cNvSpPr/>
          <p:nvPr/>
        </p:nvSpPr>
        <p:spPr>
          <a:xfrm>
            <a:off x="1417320" y="43344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Hotfix (Production)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9"/>
          <p:cNvSpPr/>
          <p:nvPr/>
        </p:nvSpPr>
        <p:spPr>
          <a:xfrm>
            <a:off x="1417320" y="46724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Single session, strict sequence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0"/>
          <p:cNvSpPr/>
          <p:nvPr/>
        </p:nvSpPr>
        <p:spPr>
          <a:xfrm>
            <a:off x="5349240" y="4334400"/>
            <a:ext cx="6126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onsolas"/>
                <a:ea typeface="Consolas"/>
              </a:rPr>
              <a:t>TL (assess + rollback plan) → engineer (no refactor) → TQE (smoke)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1"/>
          <p:cNvSpPr/>
          <p:nvPr/>
        </p:nvSpPr>
        <p:spPr>
          <a:xfrm>
            <a:off x="548640" y="5184720"/>
            <a:ext cx="11063880" cy="776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2"/>
          <p:cNvSpPr/>
          <p:nvPr/>
        </p:nvSpPr>
        <p:spPr>
          <a:xfrm>
            <a:off x="548640" y="5184720"/>
            <a:ext cx="5436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3"/>
          <p:cNvSpPr/>
          <p:nvPr/>
        </p:nvSpPr>
        <p:spPr>
          <a:xfrm>
            <a:off x="777240" y="5349240"/>
            <a:ext cx="456840" cy="456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4"/>
          <p:cNvSpPr/>
          <p:nvPr/>
        </p:nvSpPr>
        <p:spPr>
          <a:xfrm>
            <a:off x="777240" y="534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5"/>
          <p:cNvSpPr/>
          <p:nvPr/>
        </p:nvSpPr>
        <p:spPr>
          <a:xfrm>
            <a:off x="1417320" y="52304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Backlog / Tech Debt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6"/>
          <p:cNvSpPr/>
          <p:nvPr/>
        </p:nvSpPr>
        <p:spPr>
          <a:xfrm>
            <a:off x="1417320" y="55688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Refine → Execute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7"/>
          <p:cNvSpPr/>
          <p:nvPr/>
        </p:nvSpPr>
        <p:spPr>
          <a:xfrm>
            <a:off x="5349240" y="5230440"/>
            <a:ext cx="6126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onsolas"/>
                <a:ea typeface="Consolas"/>
              </a:rPr>
              <a:t>PO → BA → TL → engineer → TQE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8"/>
          <p:cNvSpPr/>
          <p:nvPr/>
        </p:nvSpPr>
        <p:spPr>
          <a:xfrm>
            <a:off x="548640" y="621792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Tech Lead picks the lightest ceremony that still satisfies the acceptance criteria — no over-engineering.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9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0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11  ·  PARALLELISM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Waves — explicit dependencies, real parallelism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48640" y="15544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Agents run in waves. Everyone in the same wave runs simultaneously; the orchestrator waits for completion summaries before spawning the next wave. Engineers in Wave E2 run against isolated git worktrees, with first-merge-wins conflict ownership.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548640" y="242316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PLAN PHASE — NEW PROJECT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5716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571680" y="278892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6631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21718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2171880" y="278892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0"/>
          <p:cNvSpPr/>
          <p:nvPr/>
        </p:nvSpPr>
        <p:spPr>
          <a:xfrm>
            <a:off x="22633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37720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2"/>
          <p:cNvSpPr/>
          <p:nvPr/>
        </p:nvSpPr>
        <p:spPr>
          <a:xfrm>
            <a:off x="3772080" y="2788920"/>
            <a:ext cx="14169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38635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EA ∥ UX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53722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5372280" y="278892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54637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69724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"/>
          <p:cNvSpPr/>
          <p:nvPr/>
        </p:nvSpPr>
        <p:spPr>
          <a:xfrm>
            <a:off x="6972480" y="278892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9"/>
          <p:cNvSpPr/>
          <p:nvPr/>
        </p:nvSpPr>
        <p:spPr>
          <a:xfrm>
            <a:off x="70639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0"/>
          <p:cNvSpPr/>
          <p:nvPr/>
        </p:nvSpPr>
        <p:spPr>
          <a:xfrm>
            <a:off x="85726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1"/>
          <p:cNvSpPr/>
          <p:nvPr/>
        </p:nvSpPr>
        <p:spPr>
          <a:xfrm>
            <a:off x="8572680" y="2788920"/>
            <a:ext cx="14169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2"/>
          <p:cNvSpPr/>
          <p:nvPr/>
        </p:nvSpPr>
        <p:spPr>
          <a:xfrm>
            <a:off x="86641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 ∥ FE ∥ 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3"/>
          <p:cNvSpPr/>
          <p:nvPr/>
        </p:nvSpPr>
        <p:spPr>
          <a:xfrm>
            <a:off x="10172880" y="2788920"/>
            <a:ext cx="141696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4"/>
          <p:cNvSpPr/>
          <p:nvPr/>
        </p:nvSpPr>
        <p:spPr>
          <a:xfrm>
            <a:off x="10172880" y="2788920"/>
            <a:ext cx="1416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5"/>
          <p:cNvSpPr/>
          <p:nvPr/>
        </p:nvSpPr>
        <p:spPr>
          <a:xfrm>
            <a:off x="10264320" y="2880360"/>
            <a:ext cx="1234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TQE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6"/>
          <p:cNvSpPr/>
          <p:nvPr/>
        </p:nvSpPr>
        <p:spPr>
          <a:xfrm>
            <a:off x="548640" y="425196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EXECUTE PHASE — PER SPRINT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7"/>
          <p:cNvSpPr/>
          <p:nvPr/>
        </p:nvSpPr>
        <p:spPr>
          <a:xfrm>
            <a:off x="777240" y="4617720"/>
            <a:ext cx="329148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8"/>
          <p:cNvSpPr/>
          <p:nvPr/>
        </p:nvSpPr>
        <p:spPr>
          <a:xfrm>
            <a:off x="777240" y="4617720"/>
            <a:ext cx="32914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9"/>
          <p:cNvSpPr/>
          <p:nvPr/>
        </p:nvSpPr>
        <p:spPr>
          <a:xfrm>
            <a:off x="914400" y="470916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TL kickoff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0"/>
          <p:cNvSpPr/>
          <p:nvPr/>
        </p:nvSpPr>
        <p:spPr>
          <a:xfrm>
            <a:off x="4434840" y="4617720"/>
            <a:ext cx="329148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1"/>
          <p:cNvSpPr/>
          <p:nvPr/>
        </p:nvSpPr>
        <p:spPr>
          <a:xfrm>
            <a:off x="4434840" y="4617720"/>
            <a:ext cx="329148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2"/>
          <p:cNvSpPr/>
          <p:nvPr/>
        </p:nvSpPr>
        <p:spPr>
          <a:xfrm>
            <a:off x="4572000" y="470916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 ∥ FE ∥ ME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3"/>
          <p:cNvSpPr/>
          <p:nvPr/>
        </p:nvSpPr>
        <p:spPr>
          <a:xfrm>
            <a:off x="8092440" y="4617720"/>
            <a:ext cx="3291480" cy="1096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4"/>
          <p:cNvSpPr/>
          <p:nvPr/>
        </p:nvSpPr>
        <p:spPr>
          <a:xfrm>
            <a:off x="8092440" y="4617720"/>
            <a:ext cx="32914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5"/>
          <p:cNvSpPr/>
          <p:nvPr/>
        </p:nvSpPr>
        <p:spPr>
          <a:xfrm>
            <a:off x="8229600" y="470916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TQE quality gate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6"/>
          <p:cNvSpPr/>
          <p:nvPr/>
        </p:nvSpPr>
        <p:spPr>
          <a:xfrm>
            <a:off x="548640" y="5943600"/>
            <a:ext cx="11063880" cy="5025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7"/>
          <p:cNvSpPr/>
          <p:nvPr/>
        </p:nvSpPr>
        <p:spPr>
          <a:xfrm>
            <a:off x="777240" y="59893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Sentinel files — .bmad/signals/E2-*-ready, E2-*-done, E3-tqe-invoke — are the only inter-agent contract. Engineers never write *-done; that stamp is the Tech Lead's worktree review.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8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9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12  ·  AUTONOMOUS ORCHESTRATION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Tech Lead orchestrates — engineers don't bypass review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"/>
          <p:cNvSpPr/>
          <p:nvPr/>
        </p:nvSpPr>
        <p:spPr>
          <a:xfrm>
            <a:off x="548640" y="1600200"/>
            <a:ext cx="1919880" cy="173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"/>
          <p:cNvSpPr/>
          <p:nvPr/>
        </p:nvSpPr>
        <p:spPr>
          <a:xfrm>
            <a:off x="548640" y="1600200"/>
            <a:ext cx="19198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777240" y="17647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6"/>
          <p:cNvSpPr/>
          <p:nvPr/>
        </p:nvSpPr>
        <p:spPr>
          <a:xfrm>
            <a:off x="7772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Sprint kickoff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777240" y="262440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TL writes sprint-N-kickoff.md and clears stale signals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8"/>
          <p:cNvSpPr/>
          <p:nvPr/>
        </p:nvSpPr>
        <p:spPr>
          <a:xfrm rot="5400000">
            <a:off x="2524320" y="2395800"/>
            <a:ext cx="18252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9"/>
          <p:cNvSpPr/>
          <p:nvPr/>
        </p:nvSpPr>
        <p:spPr>
          <a:xfrm>
            <a:off x="2834640" y="1600200"/>
            <a:ext cx="1919880" cy="173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2834640" y="1600200"/>
            <a:ext cx="19198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3063240" y="17647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30632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Spawn engineers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3"/>
          <p:cNvSpPr/>
          <p:nvPr/>
        </p:nvSpPr>
        <p:spPr>
          <a:xfrm>
            <a:off x="3063240" y="262440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TL launches BE ∥ FE ∥ ME via the Agent tool — true parallel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4"/>
          <p:cNvSpPr/>
          <p:nvPr/>
        </p:nvSpPr>
        <p:spPr>
          <a:xfrm rot="5400000">
            <a:off x="4810320" y="2395800"/>
            <a:ext cx="18252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5"/>
          <p:cNvSpPr/>
          <p:nvPr/>
        </p:nvSpPr>
        <p:spPr>
          <a:xfrm>
            <a:off x="5120640" y="1600200"/>
            <a:ext cx="1919880" cy="173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6"/>
          <p:cNvSpPr/>
          <p:nvPr/>
        </p:nvSpPr>
        <p:spPr>
          <a:xfrm>
            <a:off x="5120640" y="1600200"/>
            <a:ext cx="19198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7"/>
          <p:cNvSpPr/>
          <p:nvPr/>
        </p:nvSpPr>
        <p:spPr>
          <a:xfrm>
            <a:off x="5349240" y="17647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53492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Worktree review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9"/>
          <p:cNvSpPr/>
          <p:nvPr/>
        </p:nvSpPr>
        <p:spPr>
          <a:xfrm>
            <a:off x="5349240" y="262440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Each engineer writes E2-*-ready; TL git-worktree-reviews each branch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0"/>
          <p:cNvSpPr/>
          <p:nvPr/>
        </p:nvSpPr>
        <p:spPr>
          <a:xfrm rot="5400000">
            <a:off x="7096320" y="2395800"/>
            <a:ext cx="18252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21"/>
          <p:cNvSpPr/>
          <p:nvPr/>
        </p:nvSpPr>
        <p:spPr>
          <a:xfrm>
            <a:off x="7406640" y="1600200"/>
            <a:ext cx="1919880" cy="173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2"/>
          <p:cNvSpPr/>
          <p:nvPr/>
        </p:nvSpPr>
        <p:spPr>
          <a:xfrm>
            <a:off x="7406640" y="1600200"/>
            <a:ext cx="19198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3"/>
          <p:cNvSpPr/>
          <p:nvPr/>
        </p:nvSpPr>
        <p:spPr>
          <a:xfrm>
            <a:off x="7635240" y="17647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4"/>
          <p:cNvSpPr/>
          <p:nvPr/>
        </p:nvSpPr>
        <p:spPr>
          <a:xfrm>
            <a:off x="76352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Approve / rework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5"/>
          <p:cNvSpPr/>
          <p:nvPr/>
        </p:nvSpPr>
        <p:spPr>
          <a:xfrm>
            <a:off x="7635240" y="262440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TL writes E2-*-done OR E2-*-rework with link to review notes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6"/>
          <p:cNvSpPr/>
          <p:nvPr/>
        </p:nvSpPr>
        <p:spPr>
          <a:xfrm rot="5400000">
            <a:off x="9382320" y="2395800"/>
            <a:ext cx="182520" cy="145800"/>
          </a:xfrm>
          <a:prstGeom prst="rtTriangle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7"/>
          <p:cNvSpPr/>
          <p:nvPr/>
        </p:nvSpPr>
        <p:spPr>
          <a:xfrm>
            <a:off x="9692640" y="1600200"/>
            <a:ext cx="1919880" cy="173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8"/>
          <p:cNvSpPr/>
          <p:nvPr/>
        </p:nvSpPr>
        <p:spPr>
          <a:xfrm>
            <a:off x="9692640" y="1600200"/>
            <a:ext cx="191988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9"/>
          <p:cNvSpPr/>
          <p:nvPr/>
        </p:nvSpPr>
        <p:spPr>
          <a:xfrm>
            <a:off x="9921240" y="17647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0"/>
          <p:cNvSpPr/>
          <p:nvPr/>
        </p:nvSpPr>
        <p:spPr>
          <a:xfrm>
            <a:off x="99212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Quality gate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1"/>
          <p:cNvSpPr/>
          <p:nvPr/>
        </p:nvSpPr>
        <p:spPr>
          <a:xfrm>
            <a:off x="9921240" y="262440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When all three are done, TL writes E3-tqe-invoke and spawns TQE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32"/>
          <p:cNvSpPr/>
          <p:nvPr/>
        </p:nvSpPr>
        <p:spPr>
          <a:xfrm>
            <a:off x="548640" y="3657600"/>
            <a:ext cx="5394600" cy="2605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3"/>
          <p:cNvSpPr/>
          <p:nvPr/>
        </p:nvSpPr>
        <p:spPr>
          <a:xfrm>
            <a:off x="548640" y="3657600"/>
            <a:ext cx="54360" cy="2605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4"/>
          <p:cNvSpPr/>
          <p:nvPr/>
        </p:nvSpPr>
        <p:spPr>
          <a:xfrm>
            <a:off x="777240" y="38404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WHY IT WORKS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5"/>
          <p:cNvSpPr/>
          <p:nvPr/>
        </p:nvSpPr>
        <p:spPr>
          <a:xfrm>
            <a:off x="777240" y="41148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Sentinel-file protocol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6"/>
          <p:cNvSpPr/>
          <p:nvPr/>
        </p:nvSpPr>
        <p:spPr>
          <a:xfrm>
            <a:off x="777240" y="4617720"/>
            <a:ext cx="50288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File-system contracts are the only coordination channel. They survive crashes, work across tools, are diffable in git, and are auditable post-hoc. No queues, no brokers, no shared state to corrupt.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7"/>
          <p:cNvSpPr/>
          <p:nvPr/>
        </p:nvSpPr>
        <p:spPr>
          <a:xfrm>
            <a:off x="6217920" y="3657600"/>
            <a:ext cx="5394600" cy="2605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8"/>
          <p:cNvSpPr/>
          <p:nvPr/>
        </p:nvSpPr>
        <p:spPr>
          <a:xfrm>
            <a:off x="6217920" y="3657600"/>
            <a:ext cx="54360" cy="2605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9"/>
          <p:cNvSpPr/>
          <p:nvPr/>
        </p:nvSpPr>
        <p:spPr>
          <a:xfrm>
            <a:off x="6446520" y="38404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REVIEW INTEGRITY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40"/>
          <p:cNvSpPr/>
          <p:nvPr/>
        </p:nvSpPr>
        <p:spPr>
          <a:xfrm>
            <a:off x="6446520" y="41148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Engineers never self-approve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41"/>
          <p:cNvSpPr/>
          <p:nvPr/>
        </p:nvSpPr>
        <p:spPr>
          <a:xfrm>
            <a:off x="6446520" y="4617720"/>
            <a:ext cx="50288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Engineers can only signal *-ready. The Tech Lead is the only writer of *-done — and only after a real worktree code review against the inline checklist. Claiming completion without verification is dishonesty, not efficiency.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42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3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13  ·  DESIGN AS CONTRACT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DESIGN.md and A2UI — visual coherence at scale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548640" y="1600200"/>
            <a:ext cx="5531760" cy="484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548640" y="1600200"/>
            <a:ext cx="55317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777240" y="1801440"/>
            <a:ext cx="516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e7490"/>
                </a:solidFill>
                <a:effectLst/>
                <a:uFillTx/>
                <a:latin typeface="Consolas"/>
                <a:ea typeface="Consolas"/>
              </a:rPr>
              <a:t>docs/ux/DESIGN.md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777240" y="2240280"/>
            <a:ext cx="5166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Google Stitch open spec — single source of truth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777240" y="274320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YAML front matter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8"/>
          <p:cNvSpPr/>
          <p:nvPr/>
        </p:nvSpPr>
        <p:spPr>
          <a:xfrm>
            <a:off x="777240" y="301752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Tokens (colors, typography, spacing, components) referenced via {path.to.token} — never inline hex/px.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9"/>
          <p:cNvSpPr/>
          <p:nvPr/>
        </p:nvSpPr>
        <p:spPr>
          <a:xfrm>
            <a:off x="777240" y="345636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Markdown prose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0"/>
          <p:cNvSpPr/>
          <p:nvPr/>
        </p:nvSpPr>
        <p:spPr>
          <a:xfrm>
            <a:off x="777240" y="373068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Overview · Colors · Typography · Layout · Elevation · Shapes · Components · Do's and Don'ts.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777240" y="416952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Refusal contract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2"/>
          <p:cNvSpPr/>
          <p:nvPr/>
        </p:nvSpPr>
        <p:spPr>
          <a:xfrm>
            <a:off x="777240" y="444384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Frontend / Mobile engineers refuse to implement any spec citing undeclared tokens — story bounces back to UX.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3"/>
          <p:cNvSpPr/>
          <p:nvPr/>
        </p:nvSpPr>
        <p:spPr>
          <a:xfrm>
            <a:off x="777240" y="488304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Linted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4"/>
          <p:cNvSpPr/>
          <p:nvPr/>
        </p:nvSpPr>
        <p:spPr>
          <a:xfrm>
            <a:off x="777240" y="515736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npx @google/design.md lint — zero broken-ref errors before handoff.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777240" y="559620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Rendered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6"/>
          <p:cNvSpPr/>
          <p:nvPr/>
        </p:nvSpPr>
        <p:spPr>
          <a:xfrm>
            <a:off x="777240" y="587052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Auto-generates DESIGN.html with palette, components, contrast report — committed alongside the .md.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7"/>
          <p:cNvSpPr/>
          <p:nvPr/>
        </p:nvSpPr>
        <p:spPr>
          <a:xfrm>
            <a:off x="6355080" y="1600200"/>
            <a:ext cx="5531760" cy="484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8"/>
          <p:cNvSpPr/>
          <p:nvPr/>
        </p:nvSpPr>
        <p:spPr>
          <a:xfrm>
            <a:off x="6355080" y="1600200"/>
            <a:ext cx="55317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9"/>
          <p:cNvSpPr/>
          <p:nvPr/>
        </p:nvSpPr>
        <p:spPr>
          <a:xfrm>
            <a:off x="6583680" y="1801440"/>
            <a:ext cx="516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A2UI v0.10 — Agent-driven UI authoring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0"/>
          <p:cNvSpPr/>
          <p:nvPr/>
        </p:nvSpPr>
        <p:spPr>
          <a:xfrm>
            <a:off x="6583680" y="225864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Advisory layer for chat canvases, in-product assistants, agentic workflow views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1"/>
          <p:cNvSpPr/>
          <p:nvPr/>
        </p:nvSpPr>
        <p:spPr>
          <a:xfrm>
            <a:off x="6583680" y="288036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Authoring mode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2"/>
          <p:cNvSpPr/>
          <p:nvPr/>
        </p:nvSpPr>
        <p:spPr>
          <a:xfrm>
            <a:off x="6583680" y="3154680"/>
            <a:ext cx="5166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PO, EA, SA, UX, InfoSec all pick up A2UI-aware brainstorm and SKILL sections — surfaces, action contracts, tree structures.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3"/>
          <p:cNvSpPr/>
          <p:nvPr/>
        </p:nvSpPr>
        <p:spPr>
          <a:xfrm>
            <a:off x="6583680" y="372168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Governance gate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4"/>
          <p:cNvSpPr/>
          <p:nvPr/>
        </p:nvSpPr>
        <p:spPr>
          <a:xfrm>
            <a:off x="6583680" y="3996000"/>
            <a:ext cx="5166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Production adoption requires an explicit EA ADR. No agent emits live envelopes by default.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5"/>
          <p:cNvSpPr/>
          <p:nvPr/>
        </p:nvSpPr>
        <p:spPr>
          <a:xfrm>
            <a:off x="6583680" y="456300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Templates shipped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6"/>
          <p:cNvSpPr/>
          <p:nvPr/>
        </p:nvSpPr>
        <p:spPr>
          <a:xfrm>
            <a:off x="6583680" y="4837320"/>
            <a:ext cx="5166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shared/templates/adr-a2ui-adoption.md and shared/templates/a2ui-surface-spec.md — version pin, catalog, security review.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7"/>
          <p:cNvSpPr/>
          <p:nvPr/>
        </p:nvSpPr>
        <p:spPr>
          <a:xfrm>
            <a:off x="6583680" y="540396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Per-tool reference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8"/>
          <p:cNvSpPr/>
          <p:nvPr/>
        </p:nvSpPr>
        <p:spPr>
          <a:xfrm>
            <a:off x="6583680" y="5678280"/>
            <a:ext cx="5166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shared/a2ui-reference.md installed to every supported tool (Claude Code, Cursor, Windsurf, Trae, Codex, Gemini, Kiro…).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9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0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14  ·  TOOL COVERAGE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One playbook · 11 AI coding tools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548640" y="1554480"/>
            <a:ext cx="1106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BMAD ships native installers for every major AI coding surface. Pick the tool the team is already using; the agent definitions, completion protocols, and rules ride along — no team-by-team rewrites.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7" name="Table 0"/>
          <p:cNvGraphicFramePr/>
          <p:nvPr/>
        </p:nvGraphicFramePr>
        <p:xfrm>
          <a:off x="548640" y="2331720"/>
          <a:ext cx="11063880" cy="362052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1463040"/>
                <a:gridCol w="777240"/>
                <a:gridCol w="1051560"/>
                <a:gridCol w="777240"/>
                <a:gridCol w="4343400"/>
              </a:tblGrid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Subagents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Parallel BE∥FE∥ME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Hooks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Sentinels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Yolo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Recommended use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Claude Code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Reference impl — full autonomous pipeline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Cowork (Desktop)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Document-producing roles, long-running orchestration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Kiro (AWS)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Spec-driven enterprise teams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Gemini CLI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4785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Native subagents, sequential delegation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Codex CLI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GPT-5 / o-series CLI workflows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Cursor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 composer / background agents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Windsurf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Cascade autopilot, planning mode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Trae IDE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Rules-based, single-session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GitHub Copilot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 Mode + async Coding Agent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OpenCode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 standards, model-agnostic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Aider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Architect+editor split, tight human control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8" name="Shape 4"/>
          <p:cNvSpPr/>
          <p:nvPr/>
        </p:nvSpPr>
        <p:spPr>
          <a:xfrm>
            <a:off x="548640" y="6035040"/>
            <a:ext cx="164160" cy="1641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777240" y="5989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Full — first-class support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6"/>
          <p:cNvSpPr/>
          <p:nvPr/>
        </p:nvSpPr>
        <p:spPr>
          <a:xfrm>
            <a:off x="3657600" y="6035040"/>
            <a:ext cx="164160" cy="164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7"/>
          <p:cNvSpPr/>
          <p:nvPr/>
        </p:nvSpPr>
        <p:spPr>
          <a:xfrm>
            <a:off x="3886200" y="59893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Partial — works with caveats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8"/>
          <p:cNvSpPr/>
          <p:nvPr/>
        </p:nvSpPr>
        <p:spPr>
          <a:xfrm>
            <a:off x="7132320" y="6035040"/>
            <a:ext cx="164160" cy="1641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9"/>
          <p:cNvSpPr/>
          <p:nvPr/>
        </p:nvSpPr>
        <p:spPr>
          <a:xfrm>
            <a:off x="7360920" y="59893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—  not currently supported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1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15  ·  MEASUREMENT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Productivity evaluation — built in, not bolted 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"/>
          <p:cNvSpPr/>
          <p:nvPr/>
        </p:nvSpPr>
        <p:spPr>
          <a:xfrm>
            <a:off x="548640" y="155448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Composite score = 0.35 × Speed + 0.35 × Quality + 0.30 × Coverage  ·  normalized 0–100  ·  collected by /bmad-eval, visualised on a self-contained dashboard.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548640" y="2240280"/>
            <a:ext cx="3535200" cy="2605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5"/>
          <p:cNvSpPr/>
          <p:nvPr/>
        </p:nvSpPr>
        <p:spPr>
          <a:xfrm>
            <a:off x="548640" y="2240280"/>
            <a:ext cx="35352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"/>
          <p:cNvSpPr/>
          <p:nvPr/>
        </p:nvSpPr>
        <p:spPr>
          <a:xfrm>
            <a:off x="822960" y="2423160"/>
            <a:ext cx="298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SPEED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7"/>
          <p:cNvSpPr/>
          <p:nvPr/>
        </p:nvSpPr>
        <p:spPr>
          <a:xfrm>
            <a:off x="822960" y="2743200"/>
            <a:ext cx="298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35%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822960" y="3593520"/>
            <a:ext cx="109440" cy="109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9"/>
          <p:cNvSpPr/>
          <p:nvPr/>
        </p:nvSpPr>
        <p:spPr>
          <a:xfrm>
            <a:off x="1051560" y="352044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Time-to-First-Draft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0"/>
          <p:cNvSpPr/>
          <p:nvPr/>
        </p:nvSpPr>
        <p:spPr>
          <a:xfrm>
            <a:off x="822960" y="3977640"/>
            <a:ext cx="109440" cy="109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1"/>
          <p:cNvSpPr/>
          <p:nvPr/>
        </p:nvSpPr>
        <p:spPr>
          <a:xfrm>
            <a:off x="1051560" y="390456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Time-to-Approval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2"/>
          <p:cNvSpPr/>
          <p:nvPr/>
        </p:nvSpPr>
        <p:spPr>
          <a:xfrm>
            <a:off x="822960" y="4361760"/>
            <a:ext cx="109440" cy="109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3"/>
          <p:cNvSpPr/>
          <p:nvPr/>
        </p:nvSpPr>
        <p:spPr>
          <a:xfrm>
            <a:off x="1051560" y="428868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Iteration Turnaround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4"/>
          <p:cNvSpPr/>
          <p:nvPr/>
        </p:nvSpPr>
        <p:spPr>
          <a:xfrm>
            <a:off x="4312800" y="2240280"/>
            <a:ext cx="3535200" cy="2605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5"/>
          <p:cNvSpPr/>
          <p:nvPr/>
        </p:nvSpPr>
        <p:spPr>
          <a:xfrm>
            <a:off x="4312800" y="2240280"/>
            <a:ext cx="3535200" cy="5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6"/>
          <p:cNvSpPr/>
          <p:nvPr/>
        </p:nvSpPr>
        <p:spPr>
          <a:xfrm>
            <a:off x="4587120" y="2423160"/>
            <a:ext cx="298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1d4ed8"/>
                </a:solidFill>
                <a:effectLst/>
                <a:uFillTx/>
                <a:latin typeface="Calibri"/>
                <a:ea typeface="Calibri"/>
              </a:rPr>
              <a:t>QUALITY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7"/>
          <p:cNvSpPr/>
          <p:nvPr/>
        </p:nvSpPr>
        <p:spPr>
          <a:xfrm>
            <a:off x="4587120" y="2743200"/>
            <a:ext cx="298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35%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8"/>
          <p:cNvSpPr/>
          <p:nvPr/>
        </p:nvSpPr>
        <p:spPr>
          <a:xfrm>
            <a:off x="4587120" y="3593520"/>
            <a:ext cx="109440" cy="109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9"/>
          <p:cNvSpPr/>
          <p:nvPr/>
        </p:nvSpPr>
        <p:spPr>
          <a:xfrm>
            <a:off x="4815720" y="352044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First-Pass Review Rate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0"/>
          <p:cNvSpPr/>
          <p:nvPr/>
        </p:nvSpPr>
        <p:spPr>
          <a:xfrm>
            <a:off x="4587120" y="3977640"/>
            <a:ext cx="109440" cy="109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1"/>
          <p:cNvSpPr/>
          <p:nvPr/>
        </p:nvSpPr>
        <p:spPr>
          <a:xfrm>
            <a:off x="4815720" y="390456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NFR Coverage Score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2"/>
          <p:cNvSpPr/>
          <p:nvPr/>
        </p:nvSpPr>
        <p:spPr>
          <a:xfrm>
            <a:off x="4587120" y="4361760"/>
            <a:ext cx="109440" cy="109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3"/>
          <p:cNvSpPr/>
          <p:nvPr/>
        </p:nvSpPr>
        <p:spPr>
          <a:xfrm>
            <a:off x="4815720" y="428868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Arch Debt Introduced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4"/>
          <p:cNvSpPr/>
          <p:nvPr/>
        </p:nvSpPr>
        <p:spPr>
          <a:xfrm>
            <a:off x="8077320" y="2240280"/>
            <a:ext cx="3535200" cy="2605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5"/>
          <p:cNvSpPr/>
          <p:nvPr/>
        </p:nvSpPr>
        <p:spPr>
          <a:xfrm>
            <a:off x="8077320" y="2240280"/>
            <a:ext cx="3535200" cy="5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6"/>
          <p:cNvSpPr/>
          <p:nvPr/>
        </p:nvSpPr>
        <p:spPr>
          <a:xfrm>
            <a:off x="8351640" y="2423160"/>
            <a:ext cx="298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047857"/>
                </a:solidFill>
                <a:effectLst/>
                <a:uFillTx/>
                <a:latin typeface="Calibri"/>
                <a:ea typeface="Calibri"/>
              </a:rPr>
              <a:t>COVERAGE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7"/>
          <p:cNvSpPr/>
          <p:nvPr/>
        </p:nvSpPr>
        <p:spPr>
          <a:xfrm>
            <a:off x="8351640" y="2743200"/>
            <a:ext cx="298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30%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8"/>
          <p:cNvSpPr/>
          <p:nvPr/>
        </p:nvSpPr>
        <p:spPr>
          <a:xfrm>
            <a:off x="8351640" y="3593520"/>
            <a:ext cx="109440" cy="109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9"/>
          <p:cNvSpPr/>
          <p:nvPr/>
        </p:nvSpPr>
        <p:spPr>
          <a:xfrm>
            <a:off x="8580240" y="352044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Alternatives Evaluated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0"/>
          <p:cNvSpPr/>
          <p:nvPr/>
        </p:nvSpPr>
        <p:spPr>
          <a:xfrm>
            <a:off x="8351640" y="3977640"/>
            <a:ext cx="109440" cy="109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31"/>
          <p:cNvSpPr/>
          <p:nvPr/>
        </p:nvSpPr>
        <p:spPr>
          <a:xfrm>
            <a:off x="8580240" y="390456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Risks Identified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32"/>
          <p:cNvSpPr/>
          <p:nvPr/>
        </p:nvSpPr>
        <p:spPr>
          <a:xfrm>
            <a:off x="8351640" y="4361760"/>
            <a:ext cx="109440" cy="109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3"/>
          <p:cNvSpPr/>
          <p:nvPr/>
        </p:nvSpPr>
        <p:spPr>
          <a:xfrm>
            <a:off x="8580240" y="4288680"/>
            <a:ext cx="275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Stakeholder Scenarios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4"/>
          <p:cNvSpPr/>
          <p:nvPr/>
        </p:nvSpPr>
        <p:spPr>
          <a:xfrm>
            <a:off x="548640" y="5074920"/>
            <a:ext cx="11063880" cy="127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5"/>
          <p:cNvSpPr/>
          <p:nvPr/>
        </p:nvSpPr>
        <p:spPr>
          <a:xfrm>
            <a:off x="548640" y="5074920"/>
            <a:ext cx="54360" cy="1279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6"/>
          <p:cNvSpPr/>
          <p:nvPr/>
        </p:nvSpPr>
        <p:spPr>
          <a:xfrm>
            <a:off x="777240" y="523944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Interactive dashboard  ·  eval/bmad-agent-eval-dashboard.html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7"/>
          <p:cNvSpPr/>
          <p:nvPr/>
        </p:nvSpPr>
        <p:spPr>
          <a:xfrm>
            <a:off x="777240" y="562356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KPI cards · weekly composite trend · per-dimension breakdowns · EA vs SA radar · two-sample t-test for statistical significance · sortable practitioner detail table. Self-contained HTML, no server required.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8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9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16  ·  WHAT YOU GET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Value by stakeholder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3"/>
          <p:cNvSpPr/>
          <p:nvPr/>
        </p:nvSpPr>
        <p:spPr>
          <a:xfrm>
            <a:off x="548640" y="1600200"/>
            <a:ext cx="539460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4"/>
          <p:cNvSpPr/>
          <p:nvPr/>
        </p:nvSpPr>
        <p:spPr>
          <a:xfrm>
            <a:off x="548640" y="160020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"/>
          <p:cNvSpPr/>
          <p:nvPr/>
        </p:nvSpPr>
        <p:spPr>
          <a:xfrm>
            <a:off x="822960" y="17647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STRATEGY &amp; RISK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6"/>
          <p:cNvSpPr/>
          <p:nvPr/>
        </p:nvSpPr>
        <p:spPr>
          <a:xfrm>
            <a:off x="822960" y="20574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7"/>
          <p:cNvSpPr/>
          <p:nvPr/>
        </p:nvSpPr>
        <p:spPr>
          <a:xfrm>
            <a:off x="822960" y="26060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One playbook spans every AI coding tool — no per-team divergence.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Governance baked in: ADR lock, technology radar, security gates, audit trail.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Measurable productivity (Speed × Quality × Coverage) — defensible to the board.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8"/>
          <p:cNvSpPr/>
          <p:nvPr/>
        </p:nvSpPr>
        <p:spPr>
          <a:xfrm>
            <a:off x="6217920" y="1600200"/>
            <a:ext cx="539460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9"/>
          <p:cNvSpPr/>
          <p:nvPr/>
        </p:nvSpPr>
        <p:spPr>
          <a:xfrm>
            <a:off x="6217920" y="160020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0"/>
          <p:cNvSpPr/>
          <p:nvPr/>
        </p:nvSpPr>
        <p:spPr>
          <a:xfrm>
            <a:off x="6492240" y="17647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OUTCOME VELOCITY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1"/>
          <p:cNvSpPr/>
          <p:nvPr/>
        </p:nvSpPr>
        <p:spPr>
          <a:xfrm>
            <a:off x="6492240" y="20574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Head of Product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2"/>
          <p:cNvSpPr/>
          <p:nvPr/>
        </p:nvSpPr>
        <p:spPr>
          <a:xfrm>
            <a:off x="6492240" y="26060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PO + BA agents enforce BRD → PRD → stories with GWT acceptance criteria.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Conversational brainstorm clarifies scope before any artifact is produced.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Five workflow types — features ship without the bug-fix ceremony, hotfixes without the planning ceremony.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3"/>
          <p:cNvSpPr/>
          <p:nvPr/>
        </p:nvSpPr>
        <p:spPr>
          <a:xfrm>
            <a:off x="548640" y="4069080"/>
            <a:ext cx="539460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4"/>
          <p:cNvSpPr/>
          <p:nvPr/>
        </p:nvSpPr>
        <p:spPr>
          <a:xfrm>
            <a:off x="548640" y="406908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5"/>
          <p:cNvSpPr/>
          <p:nvPr/>
        </p:nvSpPr>
        <p:spPr>
          <a:xfrm>
            <a:off x="822960" y="42336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EXECUTION RIGOR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6"/>
          <p:cNvSpPr/>
          <p:nvPr/>
        </p:nvSpPr>
        <p:spPr>
          <a:xfrm>
            <a:off x="822960" y="45262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Head of Engineering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7"/>
          <p:cNvSpPr/>
          <p:nvPr/>
        </p:nvSpPr>
        <p:spPr>
          <a:xfrm>
            <a:off x="822960" y="507492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Tech Lead orchestrates real parallel BE ∥ FE ∥ ME against isolated worktrees.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Engineers cannot self-approve; *-done is a TL-only signal after worktree review.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Karpathy principles + inline Agent Rules enforce surgical, reviewable changes.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8"/>
          <p:cNvSpPr/>
          <p:nvPr/>
        </p:nvSpPr>
        <p:spPr>
          <a:xfrm>
            <a:off x="6217920" y="4069080"/>
            <a:ext cx="5394600" cy="2194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9"/>
          <p:cNvSpPr/>
          <p:nvPr/>
        </p:nvSpPr>
        <p:spPr>
          <a:xfrm>
            <a:off x="6217920" y="4069080"/>
            <a:ext cx="54360" cy="2194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20"/>
          <p:cNvSpPr/>
          <p:nvPr/>
        </p:nvSpPr>
        <p:spPr>
          <a:xfrm>
            <a:off x="6492240" y="42336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AUTHORITY &amp; COHERENCE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21"/>
          <p:cNvSpPr/>
          <p:nvPr/>
        </p:nvSpPr>
        <p:spPr>
          <a:xfrm>
            <a:off x="6492240" y="45262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Architects (EA / SA / InfoSec)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2"/>
          <p:cNvSpPr/>
          <p:nvPr/>
        </p:nvSpPr>
        <p:spPr>
          <a:xfrm>
            <a:off x="6492240" y="507492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Explicit EA vs SA scope matrix — no more ambiguous ownership.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Tech radar governance — unlisted technology requires an ADR.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Wingdings" charset="2"/>
              <a:buChar char="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A2UI advisory + DESIGN.md cross-agent contract keep UI/UX and platform decisions coherent across features.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23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4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17  ·  ADOPTION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Four-phase roll-out — weeks, not quarters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3"/>
          <p:cNvSpPr/>
          <p:nvPr/>
        </p:nvSpPr>
        <p:spPr>
          <a:xfrm>
            <a:off x="548640" y="1645920"/>
            <a:ext cx="2559960" cy="461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4"/>
          <p:cNvSpPr/>
          <p:nvPr/>
        </p:nvSpPr>
        <p:spPr>
          <a:xfrm>
            <a:off x="548640" y="1645920"/>
            <a:ext cx="2559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5"/>
          <p:cNvSpPr/>
          <p:nvPr/>
        </p:nvSpPr>
        <p:spPr>
          <a:xfrm>
            <a:off x="822960" y="18745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6"/>
          <p:cNvSpPr/>
          <p:nvPr/>
        </p:nvSpPr>
        <p:spPr>
          <a:xfrm>
            <a:off x="822960" y="25603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Install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7"/>
          <p:cNvSpPr/>
          <p:nvPr/>
        </p:nvSpPr>
        <p:spPr>
          <a:xfrm>
            <a:off x="822960" y="30175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Day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8"/>
          <p:cNvSpPr/>
          <p:nvPr/>
        </p:nvSpPr>
        <p:spPr>
          <a:xfrm>
            <a:off x="822960" y="3429000"/>
            <a:ext cx="20113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Run install-global.sh once per developer machine. Deploys 13 agents, hooks, Karpathy principles, and A2UI reference to every detected tool — Claude Code, Cowork, Cursor, Windsurf, Trae, Copilot, Codex, Gemini, Kiro, OpenCode, Aider.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9"/>
          <p:cNvSpPr/>
          <p:nvPr/>
        </p:nvSpPr>
        <p:spPr>
          <a:xfrm>
            <a:off x="3383280" y="1645920"/>
            <a:ext cx="2559960" cy="461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0"/>
          <p:cNvSpPr/>
          <p:nvPr/>
        </p:nvSpPr>
        <p:spPr>
          <a:xfrm>
            <a:off x="3383280" y="1645920"/>
            <a:ext cx="2559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1"/>
          <p:cNvSpPr/>
          <p:nvPr/>
        </p:nvSpPr>
        <p:spPr>
          <a:xfrm>
            <a:off x="3657600" y="18745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2"/>
          <p:cNvSpPr/>
          <p:nvPr/>
        </p:nvSpPr>
        <p:spPr>
          <a:xfrm>
            <a:off x="3657600" y="25603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Scaffold pilot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3"/>
          <p:cNvSpPr/>
          <p:nvPr/>
        </p:nvSpPr>
        <p:spPr>
          <a:xfrm>
            <a:off x="3657600" y="30175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Day 1 – Week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4"/>
          <p:cNvSpPr/>
          <p:nvPr/>
        </p:nvSpPr>
        <p:spPr>
          <a:xfrm>
            <a:off x="3657600" y="3429000"/>
            <a:ext cx="20113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Pick one pilot project. scaffold-project.sh creates .bmad/ context files, AI-tool wiring, and signals/. Fill PROJECT-CONTEXT.md, tech-stack.md, team-conventions.md — every agent runs project-aware afterward.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5"/>
          <p:cNvSpPr/>
          <p:nvPr/>
        </p:nvSpPr>
        <p:spPr>
          <a:xfrm>
            <a:off x="6217920" y="1645920"/>
            <a:ext cx="2559960" cy="461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6"/>
          <p:cNvSpPr/>
          <p:nvPr/>
        </p:nvSpPr>
        <p:spPr>
          <a:xfrm>
            <a:off x="6217920" y="1645920"/>
            <a:ext cx="2559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7"/>
          <p:cNvSpPr/>
          <p:nvPr/>
        </p:nvSpPr>
        <p:spPr>
          <a:xfrm>
            <a:off x="6492240" y="18745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8"/>
          <p:cNvSpPr/>
          <p:nvPr/>
        </p:nvSpPr>
        <p:spPr>
          <a:xfrm>
            <a:off x="6492240" y="25603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Baseline + run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9"/>
          <p:cNvSpPr/>
          <p:nvPr/>
        </p:nvSpPr>
        <p:spPr>
          <a:xfrm>
            <a:off x="6492240" y="30175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Weeks 1 – 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0"/>
          <p:cNvSpPr/>
          <p:nvPr/>
        </p:nvSpPr>
        <p:spPr>
          <a:xfrm>
            <a:off x="6492240" y="3429000"/>
            <a:ext cx="20113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Use /bmad-eval to record 4 weeks of baseline metrics, then 4+ weeks of AI-assisted metrics. Run a real feature and a real hotfix end-to-end. Capture composite score deltas in the dashboard.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21"/>
          <p:cNvSpPr/>
          <p:nvPr/>
        </p:nvSpPr>
        <p:spPr>
          <a:xfrm>
            <a:off x="9052560" y="1645920"/>
            <a:ext cx="2559960" cy="461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2"/>
          <p:cNvSpPr/>
          <p:nvPr/>
        </p:nvSpPr>
        <p:spPr>
          <a:xfrm>
            <a:off x="9052560" y="1645920"/>
            <a:ext cx="255996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3"/>
          <p:cNvSpPr/>
          <p:nvPr/>
        </p:nvSpPr>
        <p:spPr>
          <a:xfrm>
            <a:off x="9326880" y="18745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4"/>
          <p:cNvSpPr/>
          <p:nvPr/>
        </p:nvSpPr>
        <p:spPr>
          <a:xfrm>
            <a:off x="9326880" y="25603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Scale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5"/>
          <p:cNvSpPr/>
          <p:nvPr/>
        </p:nvSpPr>
        <p:spPr>
          <a:xfrm>
            <a:off x="9326880" y="30175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Weeks 4 – 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6"/>
          <p:cNvSpPr/>
          <p:nvPr/>
        </p:nvSpPr>
        <p:spPr>
          <a:xfrm>
            <a:off x="9326880" y="3429000"/>
            <a:ext cx="20113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Onboard the next 3-5 squads. update.sh refreshes every project from a single repo. Promote internal wins, retire one-off prompting playbooks, and gate new tech adoption through the radar + ADR process.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7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8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18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Text 0"/>
          <p:cNvSpPr/>
          <p:nvPr/>
        </p:nvSpPr>
        <p:spPr>
          <a:xfrm>
            <a:off x="548640" y="320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601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18  ·  RISKS &amp; MITIGATIONS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What can go wrong — and how BMAD handles it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2"/>
          <p:cNvSpPr/>
          <p:nvPr/>
        </p:nvSpPr>
        <p:spPr>
          <a:xfrm>
            <a:off x="548640" y="1298520"/>
            <a:ext cx="54828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3"/>
          <p:cNvSpPr/>
          <p:nvPr/>
        </p:nvSpPr>
        <p:spPr>
          <a:xfrm>
            <a:off x="548640" y="160020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4"/>
          <p:cNvSpPr/>
          <p:nvPr/>
        </p:nvSpPr>
        <p:spPr>
          <a:xfrm>
            <a:off x="548640" y="160020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5"/>
          <p:cNvSpPr/>
          <p:nvPr/>
        </p:nvSpPr>
        <p:spPr>
          <a:xfrm>
            <a:off x="822960" y="17373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6"/>
          <p:cNvSpPr/>
          <p:nvPr/>
        </p:nvSpPr>
        <p:spPr>
          <a:xfrm>
            <a:off x="822960" y="196596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Other AI plugins override BMAD skill matching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7"/>
          <p:cNvSpPr/>
          <p:nvPr/>
        </p:nvSpPr>
        <p:spPr>
          <a:xfrm>
            <a:off x="822960" y="256032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Disable competing planners during BMAD sessions; always use explicit slash commands (/business-analyst, /tech-lead) — bypasses fuzzy match.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8"/>
          <p:cNvSpPr/>
          <p:nvPr/>
        </p:nvSpPr>
        <p:spPr>
          <a:xfrm>
            <a:off x="6163200" y="160020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9"/>
          <p:cNvSpPr/>
          <p:nvPr/>
        </p:nvSpPr>
        <p:spPr>
          <a:xfrm>
            <a:off x="6163200" y="160020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0"/>
          <p:cNvSpPr/>
          <p:nvPr/>
        </p:nvSpPr>
        <p:spPr>
          <a:xfrm>
            <a:off x="6437520" y="17373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1"/>
          <p:cNvSpPr/>
          <p:nvPr/>
        </p:nvSpPr>
        <p:spPr>
          <a:xfrm>
            <a:off x="6437520" y="196596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Agents drift from project conventions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2"/>
          <p:cNvSpPr/>
          <p:nvPr/>
        </p:nvSpPr>
        <p:spPr>
          <a:xfrm>
            <a:off x="6437520" y="256032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.bmad/ context loaded in deterministic order on every invocation; team-conventions.md wins over global defaults.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3"/>
          <p:cNvSpPr/>
          <p:nvPr/>
        </p:nvSpPr>
        <p:spPr>
          <a:xfrm>
            <a:off x="548640" y="320940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4"/>
          <p:cNvSpPr/>
          <p:nvPr/>
        </p:nvSpPr>
        <p:spPr>
          <a:xfrm>
            <a:off x="548640" y="320940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5"/>
          <p:cNvSpPr/>
          <p:nvPr/>
        </p:nvSpPr>
        <p:spPr>
          <a:xfrm>
            <a:off x="822960" y="3346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6"/>
          <p:cNvSpPr/>
          <p:nvPr/>
        </p:nvSpPr>
        <p:spPr>
          <a:xfrm>
            <a:off x="822960" y="357516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Engineers self-approve to look fast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7"/>
          <p:cNvSpPr/>
          <p:nvPr/>
        </p:nvSpPr>
        <p:spPr>
          <a:xfrm>
            <a:off x="822960" y="416952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Sentinel protocol: engineers can only write *-ready; *-done is TL-only after a real git-worktree review.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8"/>
          <p:cNvSpPr/>
          <p:nvPr/>
        </p:nvSpPr>
        <p:spPr>
          <a:xfrm>
            <a:off x="6163200" y="320940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9"/>
          <p:cNvSpPr/>
          <p:nvPr/>
        </p:nvSpPr>
        <p:spPr>
          <a:xfrm>
            <a:off x="6163200" y="320940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20"/>
          <p:cNvSpPr/>
          <p:nvPr/>
        </p:nvSpPr>
        <p:spPr>
          <a:xfrm>
            <a:off x="6437520" y="3346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1"/>
          <p:cNvSpPr/>
          <p:nvPr/>
        </p:nvSpPr>
        <p:spPr>
          <a:xfrm>
            <a:off x="6437520" y="357516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Architectural debt creeps in silently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22"/>
          <p:cNvSpPr/>
          <p:nvPr/>
        </p:nvSpPr>
        <p:spPr>
          <a:xfrm>
            <a:off x="6437520" y="416952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ADR lock per sprint. Unlisted technology needs an ADR. Composite score's Quality dimension tracks Arch Debt Introduced.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3"/>
          <p:cNvSpPr/>
          <p:nvPr/>
        </p:nvSpPr>
        <p:spPr>
          <a:xfrm>
            <a:off x="548640" y="481896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24"/>
          <p:cNvSpPr/>
          <p:nvPr/>
        </p:nvSpPr>
        <p:spPr>
          <a:xfrm>
            <a:off x="548640" y="481896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5"/>
          <p:cNvSpPr/>
          <p:nvPr/>
        </p:nvSpPr>
        <p:spPr>
          <a:xfrm>
            <a:off x="822960" y="49561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26"/>
          <p:cNvSpPr/>
          <p:nvPr/>
        </p:nvSpPr>
        <p:spPr>
          <a:xfrm>
            <a:off x="822960" y="518472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Productivity claims are unprovable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27"/>
          <p:cNvSpPr/>
          <p:nvPr/>
        </p:nvSpPr>
        <p:spPr>
          <a:xfrm>
            <a:off x="822960" y="577908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/bmad-eval auto-collects metrics from artifacts + git history; 4-week baseline + 4-week AI-assisted comparison with t-test.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8"/>
          <p:cNvSpPr/>
          <p:nvPr/>
        </p:nvSpPr>
        <p:spPr>
          <a:xfrm>
            <a:off x="6163200" y="4818960"/>
            <a:ext cx="5449320" cy="144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1908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29"/>
          <p:cNvSpPr/>
          <p:nvPr/>
        </p:nvSpPr>
        <p:spPr>
          <a:xfrm>
            <a:off x="6163200" y="4818960"/>
            <a:ext cx="54360" cy="144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0"/>
          <p:cNvSpPr/>
          <p:nvPr/>
        </p:nvSpPr>
        <p:spPr>
          <a:xfrm>
            <a:off x="6437520" y="49561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31"/>
          <p:cNvSpPr/>
          <p:nvPr/>
        </p:nvSpPr>
        <p:spPr>
          <a:xfrm>
            <a:off x="6437520" y="518472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Tool fragmentation across teams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2"/>
          <p:cNvSpPr/>
          <p:nvPr/>
        </p:nvSpPr>
        <p:spPr>
          <a:xfrm>
            <a:off x="6437520" y="5779080"/>
            <a:ext cx="499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→  11 tools share one source of truth. update.sh refreshes every install from the BMAD repo; project context survives.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3"/>
          <p:cNvSpPr/>
          <p:nvPr/>
        </p:nvSpPr>
        <p:spPr>
          <a:xfrm>
            <a:off x="54864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BMAD SDLC Agents — Executive Briefing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34"/>
          <p:cNvSpPr/>
          <p:nvPr/>
        </p:nvSpPr>
        <p:spPr>
          <a:xfrm>
            <a:off x="1078992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19 / 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822960" y="1188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799" strike="noStrike" u="none">
                <a:solidFill>
                  <a:srgbClr val="cffafe"/>
                </a:solidFill>
                <a:effectLst/>
                <a:uFillTx/>
                <a:latin typeface="Calibri"/>
                <a:ea typeface="Calibri"/>
              </a:rPr>
              <a:t>NEXT STEPS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"/>
          <p:cNvSpPr/>
          <p:nvPr/>
        </p:nvSpPr>
        <p:spPr>
          <a:xfrm>
            <a:off x="822960" y="164592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Let's pilot BMAD with one squad and one project.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"/>
          <p:cNvSpPr/>
          <p:nvPr/>
        </p:nvSpPr>
        <p:spPr>
          <a:xfrm>
            <a:off x="822960" y="27432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c7d2fe"/>
                </a:solidFill>
                <a:effectLst/>
                <a:uFillTx/>
                <a:latin typeface="Calibri"/>
                <a:ea typeface="Calibri"/>
              </a:rPr>
              <a:t>Eight weeks to a measurable composite-score delta — and a shared playbook every team can adopt without changing tools.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4"/>
          <p:cNvSpPr/>
          <p:nvPr/>
        </p:nvSpPr>
        <p:spPr>
          <a:xfrm>
            <a:off x="822960" y="3931920"/>
            <a:ext cx="3535200" cy="182844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5"/>
          <p:cNvSpPr/>
          <p:nvPr/>
        </p:nvSpPr>
        <p:spPr>
          <a:xfrm>
            <a:off x="822960" y="3931920"/>
            <a:ext cx="35352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6"/>
          <p:cNvSpPr/>
          <p:nvPr/>
        </p:nvSpPr>
        <p:spPr>
          <a:xfrm>
            <a:off x="1097280" y="4206240"/>
            <a:ext cx="2986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Pilot squad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7"/>
          <p:cNvSpPr/>
          <p:nvPr/>
        </p:nvSpPr>
        <p:spPr>
          <a:xfrm>
            <a:off x="1097280" y="4709160"/>
            <a:ext cx="2986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One cross-functional team — PO, EA/SA, BE, FE, TQE — for an 8-week measured run.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8"/>
          <p:cNvSpPr/>
          <p:nvPr/>
        </p:nvSpPr>
        <p:spPr>
          <a:xfrm>
            <a:off x="4587120" y="3931920"/>
            <a:ext cx="3535200" cy="182844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9"/>
          <p:cNvSpPr/>
          <p:nvPr/>
        </p:nvSpPr>
        <p:spPr>
          <a:xfrm>
            <a:off x="4587120" y="3931920"/>
            <a:ext cx="35352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0"/>
          <p:cNvSpPr/>
          <p:nvPr/>
        </p:nvSpPr>
        <p:spPr>
          <a:xfrm>
            <a:off x="4861440" y="4206240"/>
            <a:ext cx="2986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Pilot project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1"/>
          <p:cNvSpPr/>
          <p:nvPr/>
        </p:nvSpPr>
        <p:spPr>
          <a:xfrm>
            <a:off x="4861440" y="4709160"/>
            <a:ext cx="2986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 net-new feature or a contained service. .bmad/ scaffolded on day one.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2"/>
          <p:cNvSpPr/>
          <p:nvPr/>
        </p:nvSpPr>
        <p:spPr>
          <a:xfrm>
            <a:off x="8351640" y="3931920"/>
            <a:ext cx="3535200" cy="182844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3"/>
          <p:cNvSpPr/>
          <p:nvPr/>
        </p:nvSpPr>
        <p:spPr>
          <a:xfrm>
            <a:off x="8351640" y="3931920"/>
            <a:ext cx="3535200" cy="5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4"/>
          <p:cNvSpPr/>
          <p:nvPr/>
        </p:nvSpPr>
        <p:spPr>
          <a:xfrm>
            <a:off x="8625960" y="4206240"/>
            <a:ext cx="2986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Steering review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5"/>
          <p:cNvSpPr/>
          <p:nvPr/>
        </p:nvSpPr>
        <p:spPr>
          <a:xfrm>
            <a:off x="8625960" y="4709160"/>
            <a:ext cx="2986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30-min checkpoint at week 4 to review composite-score baseline and adjust scope.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6"/>
          <p:cNvSpPr/>
          <p:nvPr/>
        </p:nvSpPr>
        <p:spPr>
          <a:xfrm>
            <a:off x="822960" y="626364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Thank you  ·  Questions welcome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LibreOffice/25.8.2.2$MacOSX_AARCH64 LibreOffice_project/d401f2107ccab8f924a8e2df40f573aab7605b6f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2026-04-29T07:54:05Z</dcterms:created>
  <dc:creator>BMAD</dc:creator>
  <dc:description/>
  <dc:language>en-US</dc:language>
  <cp:lastModifiedBy/>
  <dcterms:modified xsi:type="dcterms:W3CDTF">2026-04-29T16:15:39Z</dcterms:modified>
  <cp:revision>2</cp:revision>
  <dc:subject>Two-Layer Agent Architecture for Enterprise SDLC</dc:subject>
  <dc:title>BMAD SDLC Agents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